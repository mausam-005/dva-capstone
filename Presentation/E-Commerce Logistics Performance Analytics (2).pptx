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 Bold" charset="1" panose="00000800000000000000"/>
      <p:regular r:id="rId16"/>
    </p:embeddedFont>
    <p:embeddedFont>
      <p:font typeface="Montserrat" charset="1" panose="00000500000000000000"/>
      <p:regular r:id="rId17"/>
    </p:embeddedFont>
    <p:embeddedFont>
      <p:font typeface="Canva Sans" charset="1" panose="020B0503030501040103"/>
      <p:regular r:id="rId18"/>
    </p:embeddedFont>
    <p:embeddedFont>
      <p:font typeface="Canva Sans Bold Italics" charset="1" panose="020B0803030501040103"/>
      <p:regular r:id="rId19"/>
    </p:embeddedFont>
    <p:embeddedFont>
      <p:font typeface="Montserrat Bold Italics" charset="1" panose="00000800000000000000"/>
      <p:regular r:id="rId20"/>
    </p:embeddedFont>
    <p:embeddedFont>
      <p:font typeface="Montserrat Italics" charset="1" panose="00000500000000000000"/>
      <p:regular r:id="rId21"/>
    </p:embeddedFont>
    <p:embeddedFont>
      <p:font typeface="Canva Sans Italics" charset="1" panose="020B0503030501040103"/>
      <p:regular r:id="rId22"/>
    </p:embeddedFont>
    <p:embeddedFont>
      <p:font typeface="Canva Sans Bold" charset="1" panose="020B08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8.jpe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144000" y="1777722"/>
            <a:ext cx="6892499" cy="6930301"/>
          </a:xfrm>
          <a:custGeom>
            <a:avLst/>
            <a:gdLst/>
            <a:ahLst/>
            <a:cxnLst/>
            <a:rect r="r" b="b" t="t" l="l"/>
            <a:pathLst>
              <a:path h="6930301" w="6892499">
                <a:moveTo>
                  <a:pt x="6892499" y="0"/>
                </a:moveTo>
                <a:lnTo>
                  <a:pt x="0" y="0"/>
                </a:lnTo>
                <a:lnTo>
                  <a:pt x="0" y="6930300"/>
                </a:lnTo>
                <a:lnTo>
                  <a:pt x="6892499" y="6930300"/>
                </a:lnTo>
                <a:lnTo>
                  <a:pt x="68924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497501" y="1678350"/>
            <a:ext cx="6892499" cy="6930301"/>
          </a:xfrm>
          <a:custGeom>
            <a:avLst/>
            <a:gdLst/>
            <a:ahLst/>
            <a:cxnLst/>
            <a:rect r="r" b="b" t="t" l="l"/>
            <a:pathLst>
              <a:path h="6930301" w="6892499">
                <a:moveTo>
                  <a:pt x="6892499" y="0"/>
                </a:moveTo>
                <a:lnTo>
                  <a:pt x="0" y="0"/>
                </a:lnTo>
                <a:lnTo>
                  <a:pt x="0" y="6930300"/>
                </a:lnTo>
                <a:lnTo>
                  <a:pt x="6892499" y="6930300"/>
                </a:lnTo>
                <a:lnTo>
                  <a:pt x="68924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50256" y="-27156"/>
            <a:ext cx="7269006" cy="432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92"/>
              </a:lnSpc>
            </a:pPr>
            <a:r>
              <a:rPr lang="en-US" b="true" sz="5494" spc="-33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E-Commerce Logistics Performance Analytics</a:t>
            </a:r>
          </a:p>
          <a:p>
            <a:pPr algn="just" marL="0" indent="0" lvl="0">
              <a:lnSpc>
                <a:spcPts val="3492"/>
              </a:lnSpc>
              <a:spcBef>
                <a:spcPct val="0"/>
              </a:spcBef>
            </a:pPr>
            <a:r>
              <a:rPr lang="en-US" sz="2494" spc="-15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Data-Driven Optimization of Delivery Operations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6077" y="9103365"/>
            <a:ext cx="7902830" cy="826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87"/>
              </a:lnSpc>
            </a:pPr>
            <a:r>
              <a:rPr lang="en-US" sz="2785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Prepared by: Group 4 – Section A</a:t>
            </a:r>
          </a:p>
          <a:p>
            <a:pPr algn="just">
              <a:lnSpc>
                <a:spcPts val="3287"/>
              </a:lnSpc>
            </a:pPr>
            <a:r>
              <a:rPr lang="en-US" sz="2785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Faculty Mentor: ____________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6077" y="5427400"/>
            <a:ext cx="7808682" cy="3181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Sayan Bhattacharya - </a:t>
            </a:r>
            <a:r>
              <a:rPr lang="en-US" sz="3000" i="true" b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2401020059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Palaparthi Harshakarthikeya - </a:t>
            </a:r>
            <a:r>
              <a:rPr lang="en-US" sz="3000" i="true" b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2401010313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Arun - </a:t>
            </a:r>
            <a:r>
              <a:rPr lang="en-US" sz="3000" i="true" b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2401010098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Keshav - </a:t>
            </a:r>
            <a:r>
              <a:rPr lang="en-US" sz="3000" i="true" b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2401010221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Sarvesh Kumar - </a:t>
            </a:r>
            <a:r>
              <a:rPr lang="en-US" sz="3000" i="true" b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2401010422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Mausam Kumar Dwivedi - </a:t>
            </a:r>
            <a:r>
              <a:rPr lang="en-US" b="true" sz="30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2401010266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885615" y="144938"/>
            <a:ext cx="3881815" cy="3903105"/>
          </a:xfrm>
          <a:custGeom>
            <a:avLst/>
            <a:gdLst/>
            <a:ahLst/>
            <a:cxnLst/>
            <a:rect r="r" b="b" t="t" l="l"/>
            <a:pathLst>
              <a:path h="3903105" w="3881815">
                <a:moveTo>
                  <a:pt x="3881815" y="0"/>
                </a:moveTo>
                <a:lnTo>
                  <a:pt x="0" y="0"/>
                </a:lnTo>
                <a:lnTo>
                  <a:pt x="0" y="3903105"/>
                </a:lnTo>
                <a:lnTo>
                  <a:pt x="3881815" y="3903105"/>
                </a:lnTo>
                <a:lnTo>
                  <a:pt x="388181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83133" y="6771432"/>
            <a:ext cx="3784185" cy="3804940"/>
          </a:xfrm>
          <a:custGeom>
            <a:avLst/>
            <a:gdLst/>
            <a:ahLst/>
            <a:cxnLst/>
            <a:rect r="r" b="b" t="t" l="l"/>
            <a:pathLst>
              <a:path h="3804940" w="3784185">
                <a:moveTo>
                  <a:pt x="0" y="0"/>
                </a:moveTo>
                <a:lnTo>
                  <a:pt x="3784185" y="0"/>
                </a:lnTo>
                <a:lnTo>
                  <a:pt x="3784185" y="3804940"/>
                </a:lnTo>
                <a:lnTo>
                  <a:pt x="0" y="38049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621083" y="6771432"/>
            <a:ext cx="3784185" cy="3804940"/>
          </a:xfrm>
          <a:custGeom>
            <a:avLst/>
            <a:gdLst/>
            <a:ahLst/>
            <a:cxnLst/>
            <a:rect r="r" b="b" t="t" l="l"/>
            <a:pathLst>
              <a:path h="3804940" w="3784185">
                <a:moveTo>
                  <a:pt x="0" y="0"/>
                </a:moveTo>
                <a:lnTo>
                  <a:pt x="3784185" y="0"/>
                </a:lnTo>
                <a:lnTo>
                  <a:pt x="3784185" y="3804940"/>
                </a:lnTo>
                <a:lnTo>
                  <a:pt x="0" y="38049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5778" y="8596553"/>
            <a:ext cx="1510177" cy="151017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996200" y="528277"/>
            <a:ext cx="12045764" cy="1692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3808"/>
              </a:lnSpc>
              <a:spcBef>
                <a:spcPct val="0"/>
              </a:spcBef>
            </a:pPr>
            <a:r>
              <a:rPr lang="en-US" b="true" sz="9863" i="true" spc="-60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Context &amp; Problem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96200" y="2771345"/>
            <a:ext cx="13629598" cy="4468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73"/>
              </a:lnSpc>
            </a:pPr>
            <a:r>
              <a:rPr lang="en-US" b="true" sz="4299" spc="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 </a:t>
            </a:r>
            <a:r>
              <a:rPr lang="en-US" sz="4299" spc="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E-commerce depends heavily on fast logistics.</a:t>
            </a:r>
          </a:p>
          <a:p>
            <a:pPr algn="just">
              <a:lnSpc>
                <a:spcPts val="5073"/>
              </a:lnSpc>
            </a:pPr>
          </a:p>
          <a:p>
            <a:pPr algn="just">
              <a:lnSpc>
                <a:spcPts val="5073"/>
              </a:lnSpc>
            </a:pPr>
            <a:r>
              <a:rPr lang="en-US" b="true" sz="4299" spc="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 </a:t>
            </a:r>
            <a:r>
              <a:rPr lang="en-US" sz="4299" spc="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Delayed deliveries reduce customer satisfaction.</a:t>
            </a:r>
          </a:p>
          <a:p>
            <a:pPr algn="just">
              <a:lnSpc>
                <a:spcPts val="5073"/>
              </a:lnSpc>
            </a:pPr>
          </a:p>
          <a:p>
            <a:pPr algn="just">
              <a:lnSpc>
                <a:spcPts val="5073"/>
              </a:lnSpc>
            </a:pPr>
            <a:r>
              <a:rPr lang="en-US" b="true" sz="4299" spc="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 </a:t>
            </a:r>
            <a:r>
              <a:rPr lang="en-US" sz="4299" spc="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Objective: Analyze courier performance and identify improvement areas using KPIs and dashboards.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27455"/>
            <a:ext cx="11811442" cy="1658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3594"/>
              </a:lnSpc>
              <a:spcBef>
                <a:spcPct val="0"/>
              </a:spcBef>
            </a:pPr>
            <a:r>
              <a:rPr lang="en-US" sz="9710" i="true" spc="-592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Data</a:t>
            </a:r>
            <a:r>
              <a:rPr lang="en-US" b="true" sz="9710" i="true" spc="-592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Engineering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52306" y="2701868"/>
            <a:ext cx="13977279" cy="634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52"/>
              </a:lnSpc>
            </a:pPr>
            <a:r>
              <a:rPr lang="en-US" sz="3466" i="true" spc="-211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Dataset:</a:t>
            </a:r>
            <a:r>
              <a:rPr lang="en-US" sz="3466" spc="-21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66" spc="-21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E-commerce</a:t>
            </a:r>
            <a:r>
              <a:rPr lang="en-US" sz="3466" spc="-21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delivery d</a:t>
            </a:r>
            <a:r>
              <a:rPr lang="en-US" sz="3466" spc="-21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3466" spc="-21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3466" spc="-21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lang="en-US" sz="3466" spc="-21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just">
              <a:lnSpc>
                <a:spcPts val="4292"/>
              </a:lnSpc>
            </a:pP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tal O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er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s: </a:t>
            </a:r>
            <a:r>
              <a:rPr lang="en-US" b="true" sz="3066" spc="-18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8</a:t>
            </a:r>
            <a:r>
              <a:rPr lang="en-US" b="true" sz="3066" spc="-18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,</a:t>
            </a:r>
            <a:r>
              <a:rPr lang="en-US" b="true" sz="3066" spc="-18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449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</a:p>
          <a:p>
            <a:pPr algn="just">
              <a:lnSpc>
                <a:spcPts val="4292"/>
              </a:lnSpc>
            </a:pPr>
          </a:p>
          <a:p>
            <a:pPr algn="just">
              <a:lnSpc>
                <a:spcPts val="4712"/>
              </a:lnSpc>
            </a:pPr>
            <a:r>
              <a:rPr lang="en-US" sz="3366" i="true" spc="-205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Cleaning</a:t>
            </a:r>
            <a:r>
              <a:rPr lang="en-US" sz="3366" i="true" spc="-205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Performed</a:t>
            </a:r>
            <a:r>
              <a:rPr lang="en-US" sz="3366" i="true" spc="-205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:</a:t>
            </a:r>
          </a:p>
          <a:p>
            <a:pPr algn="just">
              <a:lnSpc>
                <a:spcPts val="4292"/>
              </a:lnSpc>
            </a:pP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Removed null 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 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just">
              <a:lnSpc>
                <a:spcPts val="4292"/>
              </a:lnSpc>
            </a:pP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tandardized c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our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er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names 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just">
              <a:lnSpc>
                <a:spcPts val="4292"/>
              </a:lnSpc>
            </a:pP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Conv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ed delive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 tim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 in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num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eri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 format  </a:t>
            </a:r>
          </a:p>
          <a:p>
            <a:pPr algn="just">
              <a:lnSpc>
                <a:spcPts val="4292"/>
              </a:lnSpc>
            </a:pPr>
          </a:p>
          <a:p>
            <a:pPr algn="just">
              <a:lnSpc>
                <a:spcPts val="4852"/>
              </a:lnSpc>
            </a:pPr>
            <a:r>
              <a:rPr lang="en-US" sz="3466" i="true" spc="-211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Key Colum</a:t>
            </a:r>
            <a:r>
              <a:rPr lang="en-US" sz="3466" i="true" spc="-211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n</a:t>
            </a:r>
            <a:r>
              <a:rPr lang="en-US" sz="3466" i="true" spc="-211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</a:t>
            </a:r>
            <a:r>
              <a:rPr lang="en-US" sz="3466" i="true" spc="-211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:</a:t>
            </a:r>
          </a:p>
          <a:p>
            <a:pPr algn="just">
              <a:lnSpc>
                <a:spcPts val="4292"/>
              </a:lnSpc>
            </a:pP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 | Ci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 |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Delivery 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Type | 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Del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iver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 Time 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| R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tin</a:t>
            </a:r>
            <a:r>
              <a:rPr lang="en-US" sz="3066" spc="-1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</a:p>
          <a:p>
            <a:pPr algn="just" marL="0" indent="0" lvl="0">
              <a:lnSpc>
                <a:spcPts val="6112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931178" y="1252823"/>
            <a:ext cx="6713643" cy="6750464"/>
          </a:xfrm>
          <a:custGeom>
            <a:avLst/>
            <a:gdLst/>
            <a:ahLst/>
            <a:cxnLst/>
            <a:rect r="r" b="b" t="t" l="l"/>
            <a:pathLst>
              <a:path h="6750464" w="6713643">
                <a:moveTo>
                  <a:pt x="0" y="0"/>
                </a:moveTo>
                <a:lnTo>
                  <a:pt x="6713644" y="0"/>
                </a:lnTo>
                <a:lnTo>
                  <a:pt x="6713644" y="6750464"/>
                </a:lnTo>
                <a:lnTo>
                  <a:pt x="0" y="6750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609364" y="4366567"/>
            <a:ext cx="5025637" cy="5053200"/>
          </a:xfrm>
          <a:custGeom>
            <a:avLst/>
            <a:gdLst/>
            <a:ahLst/>
            <a:cxnLst/>
            <a:rect r="r" b="b" t="t" l="l"/>
            <a:pathLst>
              <a:path h="5053200" w="5025637">
                <a:moveTo>
                  <a:pt x="5025637" y="0"/>
                </a:moveTo>
                <a:lnTo>
                  <a:pt x="0" y="0"/>
                </a:lnTo>
                <a:lnTo>
                  <a:pt x="0" y="5053200"/>
                </a:lnTo>
                <a:lnTo>
                  <a:pt x="5025637" y="5053200"/>
                </a:lnTo>
                <a:lnTo>
                  <a:pt x="502563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1185534" y="4366567"/>
            <a:ext cx="5025637" cy="5053200"/>
          </a:xfrm>
          <a:custGeom>
            <a:avLst/>
            <a:gdLst/>
            <a:ahLst/>
            <a:cxnLst/>
            <a:rect r="r" b="b" t="t" l="l"/>
            <a:pathLst>
              <a:path h="5053200" w="5025637">
                <a:moveTo>
                  <a:pt x="5025637" y="0"/>
                </a:moveTo>
                <a:lnTo>
                  <a:pt x="0" y="0"/>
                </a:lnTo>
                <a:lnTo>
                  <a:pt x="0" y="5053200"/>
                </a:lnTo>
                <a:lnTo>
                  <a:pt x="5025637" y="5053200"/>
                </a:lnTo>
                <a:lnTo>
                  <a:pt x="502563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82343" y="3295060"/>
            <a:ext cx="10138676" cy="4202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19"/>
              </a:lnSpc>
            </a:pPr>
            <a:r>
              <a:rPr lang="en-US" sz="4800" spc="-2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 Total Orders</a:t>
            </a:r>
          </a:p>
          <a:p>
            <a:pPr algn="just">
              <a:lnSpc>
                <a:spcPts val="6719"/>
              </a:lnSpc>
            </a:pPr>
            <a:r>
              <a:rPr lang="en-US" sz="4800" spc="-2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en-US" sz="4800" spc="-2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Average Delivery Time</a:t>
            </a:r>
          </a:p>
          <a:p>
            <a:pPr algn="just">
              <a:lnSpc>
                <a:spcPts val="6719"/>
              </a:lnSpc>
            </a:pPr>
            <a:r>
              <a:rPr lang="en-US" sz="4800" spc="-2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en-US" sz="4800" spc="-2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Product Rating</a:t>
            </a:r>
          </a:p>
          <a:p>
            <a:pPr algn="just">
              <a:lnSpc>
                <a:spcPts val="6719"/>
              </a:lnSpc>
            </a:pPr>
            <a:r>
              <a:rPr lang="en-US" sz="4800" spc="-2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en-US" sz="4800" spc="-2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Courier Order Share</a:t>
            </a:r>
          </a:p>
          <a:p>
            <a:pPr algn="just">
              <a:lnSpc>
                <a:spcPts val="6719"/>
              </a:lnSpc>
            </a:pPr>
            <a:r>
              <a:rPr lang="en-US" sz="4800" spc="-2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en-US" sz="4800" spc="-2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City-wise Delivery Speed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73119" y="1028700"/>
            <a:ext cx="7169588" cy="87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10"/>
              </a:lnSpc>
            </a:pPr>
            <a:r>
              <a:rPr lang="en-US" sz="5771" i="true" spc="11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KPIs &amp;</a:t>
            </a:r>
            <a:r>
              <a:rPr lang="en-US" b="true" sz="5771" i="true" spc="11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Metrics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9648" y="622340"/>
            <a:ext cx="12541690" cy="1658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594"/>
              </a:lnSpc>
              <a:spcBef>
                <a:spcPct val="0"/>
              </a:spcBef>
            </a:pPr>
            <a:r>
              <a:rPr lang="en-US" b="true" sz="9710" spc="-59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Insights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631474" y="2049846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627288" y="2049846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7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7" y="1996496"/>
                </a:lnTo>
                <a:lnTo>
                  <a:pt x="19856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5542721" y="284183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347656" y="284183"/>
            <a:ext cx="1985606" cy="1996496"/>
          </a:xfrm>
          <a:custGeom>
            <a:avLst/>
            <a:gdLst/>
            <a:ahLst/>
            <a:cxnLst/>
            <a:rect r="r" b="b" t="t" l="l"/>
            <a:pathLst>
              <a:path h="1996496" w="198560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191818" y="5230327"/>
            <a:ext cx="4714372" cy="4378307"/>
          </a:xfrm>
          <a:custGeom>
            <a:avLst/>
            <a:gdLst/>
            <a:ahLst/>
            <a:cxnLst/>
            <a:rect r="r" b="b" t="t" l="l"/>
            <a:pathLst>
              <a:path h="4378307" w="4714372">
                <a:moveTo>
                  <a:pt x="0" y="0"/>
                </a:moveTo>
                <a:lnTo>
                  <a:pt x="4714372" y="0"/>
                </a:lnTo>
                <a:lnTo>
                  <a:pt x="4714372" y="4378306"/>
                </a:lnTo>
                <a:lnTo>
                  <a:pt x="0" y="43783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85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11615" y="3551453"/>
            <a:ext cx="9670680" cy="4598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2899" spc="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</a:t>
            </a:r>
            <a:r>
              <a:rPr lang="en-US" sz="2899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Average delivery time is ~2.8 days.</a:t>
            </a:r>
          </a:p>
          <a:p>
            <a:pPr algn="l">
              <a:lnSpc>
                <a:spcPts val="3185"/>
              </a:lnSpc>
            </a:pPr>
          </a:p>
          <a:p>
            <a:pPr algn="l">
              <a:lnSpc>
                <a:spcPts val="3421"/>
              </a:lnSpc>
            </a:pPr>
            <a:r>
              <a:rPr lang="en-US" sz="2899" spc="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</a:t>
            </a:r>
            <a:r>
              <a:rPr lang="en-US" sz="2899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J&amp;T Express and Ninja Express handle most orders.</a:t>
            </a:r>
          </a:p>
          <a:p>
            <a:pPr algn="l">
              <a:lnSpc>
                <a:spcPts val="3185"/>
              </a:lnSpc>
            </a:pPr>
          </a:p>
          <a:p>
            <a:pPr algn="l">
              <a:lnSpc>
                <a:spcPts val="3421"/>
              </a:lnSpc>
            </a:pPr>
            <a:r>
              <a:rPr lang="en-US" sz="2899" spc="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</a:t>
            </a:r>
            <a:r>
              <a:rPr lang="en-US" sz="2899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Same-day delivery performs fastest.</a:t>
            </a:r>
          </a:p>
          <a:p>
            <a:pPr algn="l">
              <a:lnSpc>
                <a:spcPts val="3185"/>
              </a:lnSpc>
            </a:pPr>
          </a:p>
          <a:p>
            <a:pPr algn="l">
              <a:lnSpc>
                <a:spcPts val="3421"/>
              </a:lnSpc>
            </a:pPr>
            <a:r>
              <a:rPr lang="en-US" sz="2899" spc="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</a:t>
            </a:r>
            <a:r>
              <a:rPr lang="en-US" sz="2899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Product ratings average around 3.</a:t>
            </a:r>
          </a:p>
          <a:p>
            <a:pPr algn="l">
              <a:lnSpc>
                <a:spcPts val="3185"/>
              </a:lnSpc>
            </a:pPr>
          </a:p>
          <a:p>
            <a:pPr algn="l">
              <a:lnSpc>
                <a:spcPts val="3421"/>
              </a:lnSpc>
            </a:pPr>
            <a:r>
              <a:rPr lang="en-US" sz="2899" spc="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5.</a:t>
            </a:r>
            <a:r>
              <a:rPr lang="en-US" sz="2899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Cities like Bandung and Jakarta show quicker delivery.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830406" y="2049846"/>
            <a:ext cx="2228153" cy="2240373"/>
          </a:xfrm>
          <a:custGeom>
            <a:avLst/>
            <a:gdLst/>
            <a:ahLst/>
            <a:cxnLst/>
            <a:rect r="r" b="b" t="t" l="l"/>
            <a:pathLst>
              <a:path h="2240373" w="2228153">
                <a:moveTo>
                  <a:pt x="2228153" y="0"/>
                </a:moveTo>
                <a:lnTo>
                  <a:pt x="0" y="0"/>
                </a:lnTo>
                <a:lnTo>
                  <a:pt x="0" y="2240373"/>
                </a:lnTo>
                <a:lnTo>
                  <a:pt x="2228153" y="2240373"/>
                </a:lnTo>
                <a:lnTo>
                  <a:pt x="222815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417883" y="2049846"/>
            <a:ext cx="2228153" cy="2240373"/>
          </a:xfrm>
          <a:custGeom>
            <a:avLst/>
            <a:gdLst/>
            <a:ahLst/>
            <a:cxnLst/>
            <a:rect r="r" b="b" t="t" l="l"/>
            <a:pathLst>
              <a:path h="2240373" w="2228153">
                <a:moveTo>
                  <a:pt x="2228153" y="0"/>
                </a:moveTo>
                <a:lnTo>
                  <a:pt x="0" y="0"/>
                </a:lnTo>
                <a:lnTo>
                  <a:pt x="0" y="2240373"/>
                </a:lnTo>
                <a:lnTo>
                  <a:pt x="2228153" y="2240373"/>
                </a:lnTo>
                <a:lnTo>
                  <a:pt x="222815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667340" y="2653385"/>
            <a:ext cx="6175128" cy="5749044"/>
            <a:chOff x="0" y="0"/>
            <a:chExt cx="6350000" cy="5911850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302" y="0"/>
              <a:ext cx="6348428" cy="5911850"/>
            </a:xfrm>
            <a:custGeom>
              <a:avLst/>
              <a:gdLst/>
              <a:ahLst/>
              <a:cxnLst/>
              <a:rect r="r" b="b" t="t" l="l"/>
              <a:pathLst>
                <a:path h="5911850" w="6348428">
                  <a:moveTo>
                    <a:pt x="5201920" y="402590"/>
                  </a:moveTo>
                  <a:lnTo>
                    <a:pt x="6239510" y="2192020"/>
                  </a:lnTo>
                  <a:cubicBezTo>
                    <a:pt x="6417310" y="2498090"/>
                    <a:pt x="6374130" y="2884170"/>
                    <a:pt x="6134100" y="3144520"/>
                  </a:cubicBezTo>
                  <a:lnTo>
                    <a:pt x="3822700" y="5651500"/>
                  </a:lnTo>
                  <a:cubicBezTo>
                    <a:pt x="3670300" y="5817870"/>
                    <a:pt x="3454400" y="5911850"/>
                    <a:pt x="3229610" y="5911850"/>
                  </a:cubicBezTo>
                  <a:lnTo>
                    <a:pt x="807720" y="5911850"/>
                  </a:lnTo>
                  <a:cubicBezTo>
                    <a:pt x="361950" y="5911850"/>
                    <a:pt x="0" y="5549900"/>
                    <a:pt x="0" y="5104130"/>
                  </a:cubicBezTo>
                  <a:lnTo>
                    <a:pt x="0" y="1891030"/>
                  </a:lnTo>
                  <a:cubicBezTo>
                    <a:pt x="0" y="1724660"/>
                    <a:pt x="50800" y="1562100"/>
                    <a:pt x="147320" y="1426210"/>
                  </a:cubicBezTo>
                  <a:lnTo>
                    <a:pt x="909320" y="342900"/>
                  </a:lnTo>
                  <a:cubicBezTo>
                    <a:pt x="1060450" y="128270"/>
                    <a:pt x="1306830" y="0"/>
                    <a:pt x="1569720" y="0"/>
                  </a:cubicBezTo>
                  <a:lnTo>
                    <a:pt x="4503420" y="0"/>
                  </a:lnTo>
                  <a:cubicBezTo>
                    <a:pt x="4791710" y="0"/>
                    <a:pt x="5058410" y="153670"/>
                    <a:pt x="5201920" y="402590"/>
                  </a:cubicBezTo>
                  <a:close/>
                </a:path>
              </a:pathLst>
            </a:custGeom>
            <a:blipFill>
              <a:blip r:embed="rId4"/>
              <a:stretch>
                <a:fillRect l="-21358" t="0" r="-21358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true" flipV="false" rot="0">
            <a:off x="442070" y="7696979"/>
            <a:ext cx="2175010" cy="2186939"/>
          </a:xfrm>
          <a:custGeom>
            <a:avLst/>
            <a:gdLst/>
            <a:ahLst/>
            <a:cxnLst/>
            <a:rect r="r" b="b" t="t" l="l"/>
            <a:pathLst>
              <a:path h="2186939" w="2175010">
                <a:moveTo>
                  <a:pt x="2175010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0" y="2186939"/>
                </a:lnTo>
                <a:lnTo>
                  <a:pt x="21750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936763" y="7696979"/>
            <a:ext cx="2175010" cy="2186939"/>
          </a:xfrm>
          <a:custGeom>
            <a:avLst/>
            <a:gdLst/>
            <a:ahLst/>
            <a:cxnLst/>
            <a:rect r="r" b="b" t="t" l="l"/>
            <a:pathLst>
              <a:path h="2186939" w="2175010">
                <a:moveTo>
                  <a:pt x="2175010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0" y="2186939"/>
                </a:lnTo>
                <a:lnTo>
                  <a:pt x="21750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185534" y="6257500"/>
            <a:ext cx="1207432" cy="120743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1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07169" y="624147"/>
            <a:ext cx="9167186" cy="142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717"/>
              </a:lnSpc>
              <a:spcBef>
                <a:spcPct val="0"/>
              </a:spcBef>
            </a:pPr>
            <a:r>
              <a:rPr lang="en-US" b="true" sz="8369" spc="-51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Advanced</a:t>
            </a:r>
            <a:r>
              <a:rPr lang="en-US" sz="8369" spc="-51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5909" y="3179558"/>
            <a:ext cx="8867254" cy="3806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9"/>
              </a:lnSpc>
            </a:pPr>
            <a:r>
              <a:rPr lang="en-US" b="true" sz="2999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 </a:t>
            </a:r>
            <a:r>
              <a:rPr lang="en-US" sz="2999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Compared couriers across delivery types.</a:t>
            </a:r>
          </a:p>
          <a:p>
            <a:pPr algn="just">
              <a:lnSpc>
                <a:spcPts val="3303"/>
              </a:lnSpc>
            </a:pPr>
          </a:p>
          <a:p>
            <a:pPr algn="just">
              <a:lnSpc>
                <a:spcPts val="3539"/>
              </a:lnSpc>
            </a:pPr>
            <a:r>
              <a:rPr lang="en-US" b="true" sz="2999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 </a:t>
            </a:r>
            <a:r>
              <a:rPr lang="en-US" sz="2999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Identified fastest cities.</a:t>
            </a:r>
          </a:p>
          <a:p>
            <a:pPr algn="just">
              <a:lnSpc>
                <a:spcPts val="3303"/>
              </a:lnSpc>
            </a:pPr>
          </a:p>
          <a:p>
            <a:pPr algn="just">
              <a:lnSpc>
                <a:spcPts val="3539"/>
              </a:lnSpc>
            </a:pPr>
            <a:r>
              <a:rPr lang="en-US" b="true" sz="2999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 </a:t>
            </a:r>
            <a:r>
              <a:rPr lang="en-US" sz="2999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Analyzed rating vs delivery speed.</a:t>
            </a:r>
          </a:p>
          <a:p>
            <a:pPr algn="just">
              <a:lnSpc>
                <a:spcPts val="3303"/>
              </a:lnSpc>
            </a:pPr>
          </a:p>
          <a:p>
            <a:pPr algn="just">
              <a:lnSpc>
                <a:spcPts val="3539"/>
              </a:lnSpc>
            </a:pPr>
            <a:r>
              <a:rPr lang="en-US" b="true" sz="2999" spc="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</a:t>
            </a:r>
            <a:r>
              <a:rPr lang="en-US" sz="2999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Found operational gaps between delivery modes.</a:t>
            </a:r>
          </a:p>
          <a:p>
            <a:pPr algn="just">
              <a:lnSpc>
                <a:spcPts val="2477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2798" y="1028700"/>
            <a:ext cx="10585024" cy="9099058"/>
            <a:chOff x="0" y="0"/>
            <a:chExt cx="2787825" cy="23964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87825" cy="2396460"/>
            </a:xfrm>
            <a:custGeom>
              <a:avLst/>
              <a:gdLst/>
              <a:ahLst/>
              <a:cxnLst/>
              <a:rect r="r" b="b" t="t" l="l"/>
              <a:pathLst>
                <a:path h="2396460" w="2787825">
                  <a:moveTo>
                    <a:pt x="37302" y="0"/>
                  </a:moveTo>
                  <a:lnTo>
                    <a:pt x="2750524" y="0"/>
                  </a:lnTo>
                  <a:cubicBezTo>
                    <a:pt x="2760417" y="0"/>
                    <a:pt x="2769904" y="3930"/>
                    <a:pt x="2776900" y="10925"/>
                  </a:cubicBezTo>
                  <a:cubicBezTo>
                    <a:pt x="2783895" y="17921"/>
                    <a:pt x="2787825" y="27409"/>
                    <a:pt x="2787825" y="37302"/>
                  </a:cubicBezTo>
                  <a:lnTo>
                    <a:pt x="2787825" y="2359158"/>
                  </a:lnTo>
                  <a:cubicBezTo>
                    <a:pt x="2787825" y="2379759"/>
                    <a:pt x="2771125" y="2396460"/>
                    <a:pt x="2750524" y="2396460"/>
                  </a:cubicBezTo>
                  <a:lnTo>
                    <a:pt x="37302" y="2396460"/>
                  </a:lnTo>
                  <a:cubicBezTo>
                    <a:pt x="16700" y="2396460"/>
                    <a:pt x="0" y="2379759"/>
                    <a:pt x="0" y="2359158"/>
                  </a:cubicBezTo>
                  <a:lnTo>
                    <a:pt x="0" y="37302"/>
                  </a:lnTo>
                  <a:cubicBezTo>
                    <a:pt x="0" y="16700"/>
                    <a:pt x="16700" y="0"/>
                    <a:pt x="37302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87825" cy="2434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3276" y="1258733"/>
            <a:ext cx="9902373" cy="8670402"/>
          </a:xfrm>
          <a:custGeom>
            <a:avLst/>
            <a:gdLst/>
            <a:ahLst/>
            <a:cxnLst/>
            <a:rect r="r" b="b" t="t" l="l"/>
            <a:pathLst>
              <a:path h="8670402" w="9902373">
                <a:moveTo>
                  <a:pt x="0" y="0"/>
                </a:moveTo>
                <a:lnTo>
                  <a:pt x="9902373" y="0"/>
                </a:lnTo>
                <a:lnTo>
                  <a:pt x="9902373" y="8670402"/>
                </a:lnTo>
                <a:lnTo>
                  <a:pt x="0" y="86704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45" r="0" b="-356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15450" y="141638"/>
            <a:ext cx="7907156" cy="88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 i="true">
                <a:solidFill>
                  <a:srgbClr val="D9D9D9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Dashboard </a:t>
            </a:r>
            <a:r>
              <a:rPr lang="en-US" sz="5199" i="true">
                <a:solidFill>
                  <a:srgbClr val="D9D9D9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Walkthrough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82434" y="1649299"/>
            <a:ext cx="6544303" cy="2400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b="true" sz="4400" i="true" u="sng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Executive View</a:t>
            </a: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</a:t>
            </a: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Total Orders: </a:t>
            </a:r>
            <a:r>
              <a:rPr lang="en-US" sz="31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8,449</a:t>
            </a: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</a:t>
            </a: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Average Delivery Time: </a:t>
            </a:r>
            <a:r>
              <a:rPr lang="en-US" sz="31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2.81 days</a:t>
            </a:r>
          </a:p>
          <a:p>
            <a:pPr algn="l">
              <a:lnSpc>
                <a:spcPts val="4340"/>
              </a:lnSpc>
            </a:pPr>
            <a:r>
              <a:rPr lang="en-US" sz="3100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3100" strike="noStrike" u="non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</a:t>
            </a:r>
            <a:r>
              <a:rPr lang="en-US" sz="3100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Average Rating: </a:t>
            </a:r>
            <a:r>
              <a:rPr lang="en-US" b="true" sz="3100" strike="noStrike" u="non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382434" y="5251533"/>
            <a:ext cx="4790778" cy="2400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60"/>
              </a:lnSpc>
            </a:pPr>
            <a:r>
              <a:rPr lang="en-US" b="true" sz="4400" i="true" u="sng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Operational View</a:t>
            </a:r>
          </a:p>
          <a:p>
            <a:pPr algn="just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</a:t>
            </a:r>
            <a:r>
              <a:rPr lang="en-US" sz="3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Courier performance</a:t>
            </a:r>
          </a:p>
          <a:p>
            <a:pPr algn="just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</a:t>
            </a:r>
            <a:r>
              <a:rPr lang="en-US" sz="3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Delivery types</a:t>
            </a:r>
          </a:p>
          <a:p>
            <a:pPr algn="just" marL="0" indent="0" lvl="0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30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</a:t>
            </a:r>
            <a:r>
              <a:rPr lang="en-US" sz="3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City comparison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06640" y="8549953"/>
            <a:ext cx="127472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96363" y="709296"/>
            <a:ext cx="10846931" cy="1533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599"/>
              </a:lnSpc>
              <a:spcBef>
                <a:spcPct val="0"/>
              </a:spcBef>
            </a:pPr>
            <a:r>
              <a:rPr lang="en-US" b="true" sz="9000" i="true" spc="-549">
                <a:solidFill>
                  <a:srgbClr val="D9D9D9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Recommendations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11365" y="3057619"/>
            <a:ext cx="11616927" cy="3733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6"/>
              </a:lnSpc>
            </a:pPr>
            <a:r>
              <a:rPr lang="en-US" sz="3606" spc="7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</a:t>
            </a:r>
            <a:r>
              <a:rPr lang="en-US" sz="3606" spc="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Promote Same-Day delivery in top cities.</a:t>
            </a:r>
          </a:p>
          <a:p>
            <a:pPr algn="l">
              <a:lnSpc>
                <a:spcPts val="4256"/>
              </a:lnSpc>
            </a:pPr>
          </a:p>
          <a:p>
            <a:pPr algn="l">
              <a:lnSpc>
                <a:spcPts val="4256"/>
              </a:lnSpc>
            </a:pPr>
            <a:r>
              <a:rPr lang="en-US" sz="3606" spc="7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</a:t>
            </a:r>
            <a:r>
              <a:rPr lang="en-US" sz="3606" spc="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Improve low-performing couriers.</a:t>
            </a:r>
          </a:p>
          <a:p>
            <a:pPr algn="l">
              <a:lnSpc>
                <a:spcPts val="4256"/>
              </a:lnSpc>
            </a:pPr>
          </a:p>
          <a:p>
            <a:pPr algn="l">
              <a:lnSpc>
                <a:spcPts val="4256"/>
              </a:lnSpc>
            </a:pPr>
            <a:r>
              <a:rPr lang="en-US" sz="3606" spc="7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</a:t>
            </a:r>
            <a:r>
              <a:rPr lang="en-US" sz="3606" spc="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Optimize routes in slower regions.</a:t>
            </a:r>
          </a:p>
          <a:p>
            <a:pPr algn="l">
              <a:lnSpc>
                <a:spcPts val="4256"/>
              </a:lnSpc>
            </a:pPr>
          </a:p>
          <a:p>
            <a:pPr algn="l">
              <a:lnSpc>
                <a:spcPts val="4256"/>
              </a:lnSpc>
            </a:pPr>
            <a:r>
              <a:rPr lang="en-US" sz="3606" spc="7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</a:t>
            </a:r>
            <a:r>
              <a:rPr lang="en-US" sz="3606" spc="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Use customer feedback to improve ratings.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1509669" y="2242854"/>
            <a:ext cx="1601696" cy="1610481"/>
          </a:xfrm>
          <a:custGeom>
            <a:avLst/>
            <a:gdLst/>
            <a:ahLst/>
            <a:cxnLst/>
            <a:rect r="r" b="b" t="t" l="l"/>
            <a:pathLst>
              <a:path h="1610481" w="1601696">
                <a:moveTo>
                  <a:pt x="1601696" y="0"/>
                </a:moveTo>
                <a:lnTo>
                  <a:pt x="0" y="0"/>
                </a:lnTo>
                <a:lnTo>
                  <a:pt x="0" y="1610480"/>
                </a:lnTo>
                <a:lnTo>
                  <a:pt x="1601696" y="1610480"/>
                </a:lnTo>
                <a:lnTo>
                  <a:pt x="16016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494284" y="2242854"/>
            <a:ext cx="1601696" cy="1610481"/>
          </a:xfrm>
          <a:custGeom>
            <a:avLst/>
            <a:gdLst/>
            <a:ahLst/>
            <a:cxnLst/>
            <a:rect r="r" b="b" t="t" l="l"/>
            <a:pathLst>
              <a:path h="1610481" w="1601696">
                <a:moveTo>
                  <a:pt x="1601696" y="0"/>
                </a:moveTo>
                <a:lnTo>
                  <a:pt x="0" y="0"/>
                </a:lnTo>
                <a:lnTo>
                  <a:pt x="0" y="1610480"/>
                </a:lnTo>
                <a:lnTo>
                  <a:pt x="1601696" y="1610480"/>
                </a:lnTo>
                <a:lnTo>
                  <a:pt x="16016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527529" y="5807686"/>
            <a:ext cx="1731771" cy="1741269"/>
          </a:xfrm>
          <a:custGeom>
            <a:avLst/>
            <a:gdLst/>
            <a:ahLst/>
            <a:cxnLst/>
            <a:rect r="r" b="b" t="t" l="l"/>
            <a:pathLst>
              <a:path h="1741269" w="1731771">
                <a:moveTo>
                  <a:pt x="1731771" y="0"/>
                </a:moveTo>
                <a:lnTo>
                  <a:pt x="0" y="0"/>
                </a:lnTo>
                <a:lnTo>
                  <a:pt x="0" y="1741269"/>
                </a:lnTo>
                <a:lnTo>
                  <a:pt x="1731771" y="1741269"/>
                </a:lnTo>
                <a:lnTo>
                  <a:pt x="17317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4429684" y="5807686"/>
            <a:ext cx="1731771" cy="1741269"/>
          </a:xfrm>
          <a:custGeom>
            <a:avLst/>
            <a:gdLst/>
            <a:ahLst/>
            <a:cxnLst/>
            <a:rect r="r" b="b" t="t" l="l"/>
            <a:pathLst>
              <a:path h="1741269" w="1731771">
                <a:moveTo>
                  <a:pt x="1731771" y="0"/>
                </a:moveTo>
                <a:lnTo>
                  <a:pt x="0" y="0"/>
                </a:lnTo>
                <a:lnTo>
                  <a:pt x="0" y="1741269"/>
                </a:lnTo>
                <a:lnTo>
                  <a:pt x="1731771" y="1741269"/>
                </a:lnTo>
                <a:lnTo>
                  <a:pt x="17317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00182" y="506372"/>
            <a:ext cx="4590599" cy="3842915"/>
            <a:chOff x="0" y="0"/>
            <a:chExt cx="906785" cy="7590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6785" cy="759094"/>
            </a:xfrm>
            <a:custGeom>
              <a:avLst/>
              <a:gdLst/>
              <a:ahLst/>
              <a:cxnLst/>
              <a:rect r="r" b="b" t="t" l="l"/>
              <a:pathLst>
                <a:path h="759094" w="906785">
                  <a:moveTo>
                    <a:pt x="86010" y="0"/>
                  </a:moveTo>
                  <a:lnTo>
                    <a:pt x="820775" y="0"/>
                  </a:lnTo>
                  <a:cubicBezTo>
                    <a:pt x="868277" y="0"/>
                    <a:pt x="906785" y="38508"/>
                    <a:pt x="906785" y="86010"/>
                  </a:cubicBezTo>
                  <a:lnTo>
                    <a:pt x="906785" y="673084"/>
                  </a:lnTo>
                  <a:cubicBezTo>
                    <a:pt x="906785" y="695895"/>
                    <a:pt x="897723" y="717772"/>
                    <a:pt x="881593" y="733902"/>
                  </a:cubicBezTo>
                  <a:cubicBezTo>
                    <a:pt x="865463" y="750033"/>
                    <a:pt x="843586" y="759094"/>
                    <a:pt x="820775" y="759094"/>
                  </a:cubicBezTo>
                  <a:lnTo>
                    <a:pt x="86010" y="759094"/>
                  </a:lnTo>
                  <a:cubicBezTo>
                    <a:pt x="63199" y="759094"/>
                    <a:pt x="41322" y="750033"/>
                    <a:pt x="25192" y="733902"/>
                  </a:cubicBezTo>
                  <a:cubicBezTo>
                    <a:pt x="9062" y="717772"/>
                    <a:pt x="0" y="695895"/>
                    <a:pt x="0" y="673084"/>
                  </a:cubicBezTo>
                  <a:lnTo>
                    <a:pt x="0" y="86010"/>
                  </a:lnTo>
                  <a:cubicBezTo>
                    <a:pt x="0" y="63199"/>
                    <a:pt x="9062" y="41322"/>
                    <a:pt x="25192" y="25192"/>
                  </a:cubicBezTo>
                  <a:cubicBezTo>
                    <a:pt x="41322" y="9062"/>
                    <a:pt x="63199" y="0"/>
                    <a:pt x="86010" y="0"/>
                  </a:cubicBezTo>
                  <a:close/>
                </a:path>
              </a:pathLst>
            </a:custGeom>
            <a:blipFill>
              <a:blip r:embed="rId2"/>
              <a:stretch>
                <a:fillRect l="-12823" t="0" r="-12823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15257771" y="7625398"/>
            <a:ext cx="2175010" cy="2186939"/>
          </a:xfrm>
          <a:custGeom>
            <a:avLst/>
            <a:gdLst/>
            <a:ahLst/>
            <a:cxnLst/>
            <a:rect r="r" b="b" t="t" l="l"/>
            <a:pathLst>
              <a:path h="2186939" w="2175010">
                <a:moveTo>
                  <a:pt x="2175011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1" y="2186939"/>
                </a:lnTo>
                <a:lnTo>
                  <a:pt x="217501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692328" y="7625398"/>
            <a:ext cx="2175010" cy="2186939"/>
          </a:xfrm>
          <a:custGeom>
            <a:avLst/>
            <a:gdLst/>
            <a:ahLst/>
            <a:cxnLst/>
            <a:rect r="r" b="b" t="t" l="l"/>
            <a:pathLst>
              <a:path h="2186939" w="2175010">
                <a:moveTo>
                  <a:pt x="2175010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0" y="2186939"/>
                </a:lnTo>
                <a:lnTo>
                  <a:pt x="217501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407327" y="4896442"/>
            <a:ext cx="4590599" cy="3842915"/>
            <a:chOff x="0" y="0"/>
            <a:chExt cx="906785" cy="7590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06785" cy="759094"/>
            </a:xfrm>
            <a:custGeom>
              <a:avLst/>
              <a:gdLst/>
              <a:ahLst/>
              <a:cxnLst/>
              <a:rect r="r" b="b" t="t" l="l"/>
              <a:pathLst>
                <a:path h="759094" w="906785">
                  <a:moveTo>
                    <a:pt x="86010" y="0"/>
                  </a:moveTo>
                  <a:lnTo>
                    <a:pt x="820775" y="0"/>
                  </a:lnTo>
                  <a:cubicBezTo>
                    <a:pt x="868277" y="0"/>
                    <a:pt x="906785" y="38508"/>
                    <a:pt x="906785" y="86010"/>
                  </a:cubicBezTo>
                  <a:lnTo>
                    <a:pt x="906785" y="673084"/>
                  </a:lnTo>
                  <a:cubicBezTo>
                    <a:pt x="906785" y="695895"/>
                    <a:pt x="897723" y="717772"/>
                    <a:pt x="881593" y="733902"/>
                  </a:cubicBezTo>
                  <a:cubicBezTo>
                    <a:pt x="865463" y="750033"/>
                    <a:pt x="843586" y="759094"/>
                    <a:pt x="820775" y="759094"/>
                  </a:cubicBezTo>
                  <a:lnTo>
                    <a:pt x="86010" y="759094"/>
                  </a:lnTo>
                  <a:cubicBezTo>
                    <a:pt x="63199" y="759094"/>
                    <a:pt x="41322" y="750033"/>
                    <a:pt x="25192" y="733902"/>
                  </a:cubicBezTo>
                  <a:cubicBezTo>
                    <a:pt x="9062" y="717772"/>
                    <a:pt x="0" y="695895"/>
                    <a:pt x="0" y="673084"/>
                  </a:cubicBezTo>
                  <a:lnTo>
                    <a:pt x="0" y="86010"/>
                  </a:lnTo>
                  <a:cubicBezTo>
                    <a:pt x="0" y="63199"/>
                    <a:pt x="9062" y="41322"/>
                    <a:pt x="25192" y="25192"/>
                  </a:cubicBezTo>
                  <a:cubicBezTo>
                    <a:pt x="41322" y="9062"/>
                    <a:pt x="63199" y="0"/>
                    <a:pt x="86010" y="0"/>
                  </a:cubicBezTo>
                  <a:close/>
                </a:path>
              </a:pathLst>
            </a:custGeom>
            <a:blipFill>
              <a:blip r:embed="rId5"/>
              <a:stretch>
                <a:fillRect l="-5808" t="0" r="-5808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true" flipV="false" rot="0">
            <a:off x="-738687" y="1774904"/>
            <a:ext cx="2175010" cy="2186939"/>
          </a:xfrm>
          <a:custGeom>
            <a:avLst/>
            <a:gdLst/>
            <a:ahLst/>
            <a:cxnLst/>
            <a:rect r="r" b="b" t="t" l="l"/>
            <a:pathLst>
              <a:path h="2186939" w="2175010">
                <a:moveTo>
                  <a:pt x="2175011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1" y="2186939"/>
                </a:lnTo>
                <a:lnTo>
                  <a:pt x="217501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22144" y="344447"/>
            <a:ext cx="9497931" cy="1533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2599"/>
              </a:lnSpc>
              <a:spcBef>
                <a:spcPct val="0"/>
              </a:spcBef>
            </a:pPr>
            <a:r>
              <a:rPr lang="en-US" b="true" sz="9000" i="true" spc="-549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Impact &amp; Value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60262" y="3124957"/>
            <a:ext cx="9902330" cy="4134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19"/>
              </a:lnSpc>
            </a:pPr>
            <a:r>
              <a:rPr lang="en-US" b="true" sz="3999" spc="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</a:t>
            </a:r>
            <a:r>
              <a:rPr lang="en-US" sz="3999" spc="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Faster deliveries → happier customers</a:t>
            </a:r>
          </a:p>
          <a:p>
            <a:pPr algn="just">
              <a:lnSpc>
                <a:spcPts val="4719"/>
              </a:lnSpc>
            </a:pPr>
            <a:r>
              <a:rPr lang="en-US" sz="3999" spc="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</a:p>
          <a:p>
            <a:pPr algn="just">
              <a:lnSpc>
                <a:spcPts val="4719"/>
              </a:lnSpc>
            </a:pPr>
            <a:r>
              <a:rPr lang="en-US" b="true" sz="3999" spc="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</a:t>
            </a:r>
            <a:r>
              <a:rPr lang="en-US" sz="3999" spc="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Better courier allocation </a:t>
            </a:r>
          </a:p>
          <a:p>
            <a:pPr algn="just">
              <a:lnSpc>
                <a:spcPts val="4719"/>
              </a:lnSpc>
            </a:pPr>
            <a:r>
              <a:rPr lang="en-US" sz="3999" spc="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just">
              <a:lnSpc>
                <a:spcPts val="4719"/>
              </a:lnSpc>
            </a:pPr>
            <a:r>
              <a:rPr lang="en-US" b="true" sz="3999" spc="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</a:t>
            </a:r>
            <a:r>
              <a:rPr lang="en-US" sz="3999" spc="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City-level logistics planning</a:t>
            </a:r>
          </a:p>
          <a:p>
            <a:pPr algn="just">
              <a:lnSpc>
                <a:spcPts val="4719"/>
              </a:lnSpc>
            </a:pPr>
            <a:r>
              <a:rPr lang="en-US" sz="3999" spc="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</a:p>
          <a:p>
            <a:pPr algn="just">
              <a:lnSpc>
                <a:spcPts val="4719"/>
              </a:lnSpc>
            </a:pPr>
            <a:r>
              <a:rPr lang="en-US" b="true" sz="3999" spc="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</a:t>
            </a:r>
            <a:r>
              <a:rPr lang="en-US" sz="3999" spc="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Reduced delivery delays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2366023" y="2505508"/>
            <a:ext cx="6171640" cy="6205488"/>
          </a:xfrm>
          <a:custGeom>
            <a:avLst/>
            <a:gdLst/>
            <a:ahLst/>
            <a:cxnLst/>
            <a:rect r="r" b="b" t="t" l="l"/>
            <a:pathLst>
              <a:path h="6205488" w="6171640">
                <a:moveTo>
                  <a:pt x="6171639" y="0"/>
                </a:moveTo>
                <a:lnTo>
                  <a:pt x="0" y="0"/>
                </a:lnTo>
                <a:lnTo>
                  <a:pt x="0" y="6205488"/>
                </a:lnTo>
                <a:lnTo>
                  <a:pt x="6171639" y="6205488"/>
                </a:lnTo>
                <a:lnTo>
                  <a:pt x="61716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546447" y="2505508"/>
            <a:ext cx="6171640" cy="6205488"/>
          </a:xfrm>
          <a:custGeom>
            <a:avLst/>
            <a:gdLst/>
            <a:ahLst/>
            <a:cxnLst/>
            <a:rect r="r" b="b" t="t" l="l"/>
            <a:pathLst>
              <a:path h="6205488" w="6171640">
                <a:moveTo>
                  <a:pt x="6171640" y="0"/>
                </a:moveTo>
                <a:lnTo>
                  <a:pt x="0" y="0"/>
                </a:lnTo>
                <a:lnTo>
                  <a:pt x="0" y="6205488"/>
                </a:lnTo>
                <a:lnTo>
                  <a:pt x="6171640" y="6205488"/>
                </a:lnTo>
                <a:lnTo>
                  <a:pt x="61716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144000" y="1536952"/>
            <a:ext cx="8301573" cy="6266362"/>
            <a:chOff x="0" y="0"/>
            <a:chExt cx="2186423" cy="1650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6423" cy="1650400"/>
            </a:xfrm>
            <a:custGeom>
              <a:avLst/>
              <a:gdLst/>
              <a:ahLst/>
              <a:cxnLst/>
              <a:rect r="r" b="b" t="t" l="l"/>
              <a:pathLst>
                <a:path h="1650400" w="2186423">
                  <a:moveTo>
                    <a:pt x="47562" y="0"/>
                  </a:moveTo>
                  <a:lnTo>
                    <a:pt x="2138861" y="0"/>
                  </a:lnTo>
                  <a:cubicBezTo>
                    <a:pt x="2165129" y="0"/>
                    <a:pt x="2186423" y="21294"/>
                    <a:pt x="2186423" y="47562"/>
                  </a:cubicBezTo>
                  <a:lnTo>
                    <a:pt x="2186423" y="1602838"/>
                  </a:lnTo>
                  <a:cubicBezTo>
                    <a:pt x="2186423" y="1615452"/>
                    <a:pt x="2181412" y="1627550"/>
                    <a:pt x="2172492" y="1636469"/>
                  </a:cubicBezTo>
                  <a:cubicBezTo>
                    <a:pt x="2163572" y="1645389"/>
                    <a:pt x="2151475" y="1650400"/>
                    <a:pt x="2138861" y="1650400"/>
                  </a:cubicBezTo>
                  <a:lnTo>
                    <a:pt x="47562" y="1650400"/>
                  </a:lnTo>
                  <a:cubicBezTo>
                    <a:pt x="34948" y="1650400"/>
                    <a:pt x="22850" y="1645389"/>
                    <a:pt x="13931" y="1636469"/>
                  </a:cubicBezTo>
                  <a:cubicBezTo>
                    <a:pt x="5011" y="1627550"/>
                    <a:pt x="0" y="1615452"/>
                    <a:pt x="0" y="1602838"/>
                  </a:cubicBezTo>
                  <a:lnTo>
                    <a:pt x="0" y="47562"/>
                  </a:lnTo>
                  <a:cubicBezTo>
                    <a:pt x="0" y="34948"/>
                    <a:pt x="5011" y="22850"/>
                    <a:pt x="13931" y="13931"/>
                  </a:cubicBezTo>
                  <a:cubicBezTo>
                    <a:pt x="22850" y="5011"/>
                    <a:pt x="34948" y="0"/>
                    <a:pt x="47562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6423" cy="168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779513" y="2053230"/>
            <a:ext cx="8316986" cy="4817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5"/>
              </a:lnSpc>
            </a:pPr>
            <a:r>
              <a:rPr lang="en-US" sz="3665" i="true" spc="7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Limitations:</a:t>
            </a:r>
          </a:p>
          <a:p>
            <a:pPr algn="just">
              <a:lnSpc>
                <a:spcPts val="3749"/>
              </a:lnSpc>
            </a:pPr>
            <a:r>
              <a:rPr lang="en-US" b="true" sz="3177" spc="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</a:t>
            </a:r>
            <a:r>
              <a:rPr lang="en-US" sz="3177" spc="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No real-time tracking</a:t>
            </a:r>
          </a:p>
          <a:p>
            <a:pPr algn="just">
              <a:lnSpc>
                <a:spcPts val="3749"/>
              </a:lnSpc>
            </a:pPr>
            <a:r>
              <a:rPr lang="en-US" b="true" sz="3177" spc="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</a:t>
            </a:r>
            <a:r>
              <a:rPr lang="en-US" sz="3177" spc="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Limited customer data</a:t>
            </a:r>
          </a:p>
          <a:p>
            <a:pPr algn="just">
              <a:lnSpc>
                <a:spcPts val="3734"/>
              </a:lnSpc>
            </a:pPr>
          </a:p>
          <a:p>
            <a:pPr algn="just">
              <a:lnSpc>
                <a:spcPts val="3734"/>
              </a:lnSpc>
            </a:pPr>
          </a:p>
          <a:p>
            <a:pPr algn="just">
              <a:lnSpc>
                <a:spcPts val="3734"/>
              </a:lnSpc>
            </a:pPr>
          </a:p>
          <a:p>
            <a:pPr algn="just">
              <a:lnSpc>
                <a:spcPts val="4325"/>
              </a:lnSpc>
            </a:pPr>
            <a:r>
              <a:rPr lang="en-US" sz="3665" i="true" spc="7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Next Steps:</a:t>
            </a:r>
          </a:p>
          <a:p>
            <a:pPr algn="just">
              <a:lnSpc>
                <a:spcPts val="3749"/>
              </a:lnSpc>
            </a:pPr>
            <a:r>
              <a:rPr lang="en-US" b="true" sz="3177" spc="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</a:t>
            </a:r>
            <a:r>
              <a:rPr lang="en-US" sz="3177" spc="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Integrate courier APIs</a:t>
            </a:r>
          </a:p>
          <a:p>
            <a:pPr algn="just">
              <a:lnSpc>
                <a:spcPts val="3749"/>
              </a:lnSpc>
            </a:pPr>
            <a:r>
              <a:rPr lang="en-US" b="true" sz="3177" spc="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</a:t>
            </a:r>
            <a:r>
              <a:rPr lang="en-US" sz="3177" spc="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Add cost metrics</a:t>
            </a:r>
          </a:p>
          <a:p>
            <a:pPr algn="just">
              <a:lnSpc>
                <a:spcPts val="3749"/>
              </a:lnSpc>
            </a:pPr>
            <a:r>
              <a:rPr lang="en-US" b="true" sz="3177" spc="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 </a:t>
            </a:r>
            <a:r>
              <a:rPr lang="en-US" sz="3177" spc="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ML delay prediction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60799" y="153209"/>
            <a:ext cx="10063482" cy="1119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9188"/>
              </a:lnSpc>
              <a:spcBef>
                <a:spcPct val="0"/>
              </a:spcBef>
            </a:pPr>
            <a:r>
              <a:rPr lang="en-US" sz="6563" i="true" spc="-40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Limitations</a:t>
            </a:r>
            <a:r>
              <a:rPr lang="en-US" b="true" sz="6563" i="true" spc="-400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&amp;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DAHBkWIf7oI</dc:identifier>
  <dcterms:modified xsi:type="dcterms:W3CDTF">2011-08-01T06:04:30Z</dcterms:modified>
  <cp:revision>1</cp:revision>
  <dc:title>E-Commerce Logistics Performance Analytics</dc:title>
</cp:coreProperties>
</file>